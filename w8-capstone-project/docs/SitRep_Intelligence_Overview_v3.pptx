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E00"/>
                </a:solidFill>
                <a:latin typeface="Segoe UI"/>
              </a:rPr>
              <a:t>OUTBREAK SITUATION-REPORT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From PDF SitReps to</a:t>
            </a:r>
          </a:p>
          <a:p>
            <a:pPr algn="l"/>
            <a:r>
              <a:rPr sz="4400" b="1" i="0">
                <a:solidFill>
                  <a:srgbClr val="D97E00"/>
                </a:solidFill>
                <a:latin typeface="Georgia"/>
              </a:rPr>
              <a:t>Verified Outbreak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D9E4E6"/>
                </a:solidFill>
                <a:latin typeface="Segoe UI"/>
              </a:rPr>
              <a:t>A grounded RAG system over the 17th Ebola (MVE/BVD) outbreak reports from the Institut National de Santé Publique, DR Congo.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43400"/>
            <a:ext cx="1252728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Ask &amp; cite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4343400"/>
            <a:ext cx="1636776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Verify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4343400"/>
            <a:ext cx="1732788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Track evolution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2492" y="4343400"/>
            <a:ext cx="144475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9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Surface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B8BD"/>
                </a:solidFill>
                <a:latin typeface="Segoe UI"/>
              </a:rPr>
              <a:t>Claude  ·  Voyage embeddings  ·  Chroma  ·  FastAPI  ·  Python 3.13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The pulse of an outbreak — but hard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618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E73"/>
                </a:solidFill>
                <a:latin typeface="Segoe UI"/>
              </a:rPr>
              <a:t>INSP publishes a new PDF almost every day. Analysts must read fast, trust the numbers, and see the trend — manually, under pressure.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02536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02536"/>
            <a:ext cx="54864" cy="228600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305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78024"/>
            <a:ext cx="234086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Typos, arithmetic that doesn't add up, missing tables, inconsistent CFR%.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02536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002536"/>
            <a:ext cx="54864" cy="228600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21305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478024"/>
            <a:ext cx="234086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Are the figures internally consistent? Do today's totals agree with yesterday's?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02536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002536"/>
            <a:ext cx="54864" cy="228600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1305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Evolution over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478024"/>
            <a:ext cx="234086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40+ reports, N°001 → N°042. How has the outbreak actually moved?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002536"/>
            <a:ext cx="26700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002536"/>
            <a:ext cx="54864" cy="228600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213055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478024"/>
            <a:ext cx="234086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No way to just ask a question and get an answer with a page-level citation.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08576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4F5C"/>
                </a:solidFill>
                <a:latin typeface="Segoe UI"/>
              </a:rPr>
              <a:t>Consequence  </a:t>
            </a:r>
            <a:r>
              <a:rPr sz="1300" b="0" i="0">
                <a:solidFill>
                  <a:srgbClr val="1E2B2F"/>
                </a:solidFill>
                <a:latin typeface="Segoe UI"/>
              </a:rPr>
              <a:t>Decisions ride on numbers nobody has had time to validate, and trends live only in an analyst's memory of yesterday's PDF.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One workspace: read every report, check it, ask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36776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36776"/>
            <a:ext cx="54864" cy="214884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Ground every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12264"/>
            <a:ext cx="234086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Responses come only from retrieved report excerpts, each cited as SitRep N° · date ·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36776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36776"/>
            <a:ext cx="54864" cy="214884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Trust the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12264"/>
            <a:ext cx="234086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Automatic completeness, consistency and arithmetic checks on each report — and between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36776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36776"/>
            <a:ext cx="54864" cy="214884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See the trajectory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12264"/>
            <a:ext cx="234086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Structured 'facts' datasets turn 40 PDFs into clean KPI / province / zone time-series.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36776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36776"/>
            <a:ext cx="54864" cy="214884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Stay current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112264"/>
            <a:ext cx="2340864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Drop in a new INSP link or PDF and it is parsed, extracted, indexed and ready to query.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59936"/>
            <a:ext cx="11183112" cy="1828800"/>
          </a:xfrm>
          <a:prstGeom prst="roundRect">
            <a:avLst>
              <a:gd name="adj" fmla="val 6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245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HOW IT STAYS HONEST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62856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Structured-first</a:t>
            </a:r>
            <a:r>
              <a:rPr sz="1150" b="0" i="0">
                <a:solidFill>
                  <a:srgbClr val="D9E4E6"/>
                </a:solidFill>
                <a:latin typeface="Segoe UI"/>
              </a:rPr>
              <a:t>  exact figures come from JSON datasets, not the model's guess.    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Nullable by design</a:t>
            </a:r>
            <a:r>
              <a:rPr sz="1150" b="0" i="0">
                <a:solidFill>
                  <a:srgbClr val="D9E4E6"/>
                </a:solidFill>
                <a:latin typeface="Segoe UI"/>
              </a:rPr>
              <a:t>  a missing table stays null; the system never invents a number.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Tool-forced output</a:t>
            </a:r>
            <a:r>
              <a:rPr sz="1150" b="0" i="0">
                <a:solidFill>
                  <a:srgbClr val="D9E4E6"/>
                </a:solidFill>
                <a:latin typeface="Segoe UI"/>
              </a:rPr>
              <a:t>  assessments &amp; comparisons return as validated JSON, not prose.     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Holdout set</a:t>
            </a:r>
            <a:r>
              <a:rPr sz="1150" b="0" i="0">
                <a:solidFill>
                  <a:srgbClr val="D9E4E6"/>
                </a:solidFill>
                <a:latin typeface="Segoe UI"/>
              </a:rPr>
              <a:t>  recent reports can be withheld from the index to test retrieval honestly.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HOW AI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AI built the application — and AI runs inside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618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E73"/>
                </a:solidFill>
                <a:latin typeface="Segoe UI"/>
              </a:rPr>
              <a:t>Two distinct roles: a development partner during the build, and generative features the analyst uses every 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56816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396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BUILDING THE APP  ·  AI AS DEVELOPMENT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23744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1E2B2F"/>
                </a:solidFill>
                <a:latin typeface="Segoe UI"/>
              </a:rPr>
              <a:t>Pair-programming with Claude Code</a:t>
            </a:r>
          </a:p>
          <a:p>
            <a:pPr algn="l"/>
            <a:r>
              <a:rPr sz="1050" b="0" i="0">
                <a:solidFill>
                  <a:srgbClr val="5E6E73"/>
                </a:solidFill>
                <a:latin typeface="Segoe UI"/>
              </a:rPr>
              <a:t>Backend, ingestion pipeline and tests scaffolded and iterated conversationally, with the developer reviewing every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1E2B2F"/>
                </a:solidFill>
                <a:latin typeface="Segoe UI"/>
              </a:rPr>
              <a:t>AI-designed frontend &amp; translations</a:t>
            </a:r>
          </a:p>
          <a:p>
            <a:pPr algn="l"/>
            <a:r>
              <a:rPr sz="1050" b="0" i="0">
                <a:solidFill>
                  <a:srgbClr val="5E6E73"/>
                </a:solidFill>
                <a:latin typeface="Segoe UI"/>
              </a:rPr>
              <a:t>The dashboard screens were generated with Claude Design, and the FR / EN / PT interface translations were AI-generated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42816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1E2B2F"/>
                </a:solidFill>
                <a:latin typeface="Segoe UI"/>
              </a:rPr>
              <a:t>Prompt engineering as code</a:t>
            </a:r>
          </a:p>
          <a:p>
            <a:pPr algn="l"/>
            <a:r>
              <a:rPr sz="1050" b="0" i="0">
                <a:solidFill>
                  <a:srgbClr val="5E6E73"/>
                </a:solidFill>
                <a:latin typeface="Segoe UI"/>
              </a:rPr>
              <a:t>All LLM instructions live as versioned templates in /prompts — reviewed, diffed and improved like any other source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02352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1E2B2F"/>
                </a:solidFill>
                <a:latin typeface="Segoe UI"/>
              </a:rPr>
              <a:t>Tests without the network</a:t>
            </a:r>
          </a:p>
          <a:p>
            <a:pPr algn="l"/>
            <a:r>
              <a:rPr sz="1050" b="0" i="0">
                <a:solidFill>
                  <a:srgbClr val="5E6E73"/>
                </a:solidFill>
                <a:latin typeface="Segoe UI"/>
              </a:rPr>
              <a:t>AI-authored pytest suite with mocked API calls, so quality checks run free and fast on every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56816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396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INSIDE THE PRODUCT  ·  GENERATIVE AI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2374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Document understanding</a:t>
            </a:r>
          </a:p>
          <a:p>
            <a:pPr algn="l"/>
            <a:r>
              <a:rPr sz="1050" b="0" i="0">
                <a:solidFill>
                  <a:srgbClr val="C8D9DC"/>
                </a:solidFill>
                <a:latin typeface="Segoe UI"/>
              </a:rPr>
              <a:t>Claude reads each PDF report and extracts a structured, nullable 'facts' record.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20954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Semantic search (RAG)</a:t>
            </a:r>
          </a:p>
          <a:p>
            <a:pPr algn="l"/>
            <a:r>
              <a:rPr sz="1050" b="0" i="0">
                <a:solidFill>
                  <a:srgbClr val="C8D9DC"/>
                </a:solidFill>
                <a:latin typeface="Segoe UI"/>
              </a:rPr>
              <a:t>Voyage AI embeddings + Chroma retrieve the most relevant excerpts for any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9534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Grounded, cited chat</a:t>
            </a:r>
          </a:p>
          <a:p>
            <a:pPr algn="l"/>
            <a:r>
              <a:rPr sz="1050" b="0" i="0">
                <a:solidFill>
                  <a:srgbClr val="C8D9DC"/>
                </a:solidFill>
                <a:latin typeface="Segoe UI"/>
              </a:rPr>
              <a:t>Multi-turn Q&amp;A in FR/EN/PT; every figure cites SitRep N°, date and page.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58114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Function calling</a:t>
            </a:r>
          </a:p>
          <a:p>
            <a:pPr algn="l"/>
            <a:r>
              <a:rPr sz="1050" b="0" i="0">
                <a:solidFill>
                  <a:srgbClr val="C8D9DC"/>
                </a:solidFill>
                <a:latin typeface="Segoe UI"/>
              </a:rPr>
              <a:t>The model calls query_data for exact numbers and plot_chart to draw trends.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526694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D97E00"/>
                </a:solidFill>
                <a:latin typeface="Segoe UI"/>
              </a:rPr>
              <a:t>▸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LLM as analyst</a:t>
            </a:r>
          </a:p>
          <a:p>
            <a:pPr algn="l"/>
            <a:r>
              <a:rPr sz="1050" b="0" i="0">
                <a:solidFill>
                  <a:srgbClr val="C8D9DC"/>
                </a:solidFill>
                <a:latin typeface="Segoe UI"/>
              </a:rPr>
              <a:t>Quality scoring, two-report comparison and topic synthesis are AI-generated, human-verified.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GENAI CONCEPTS,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Every core concept from the course, at work in one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36776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36776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12264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Retrieve the 8 most relevant excerpts, answer only from them — the model cannot drift from the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36776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36776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12264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voyage-4 multilingual vectors put French reports and English questions in the same semantic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36776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36776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Grounding &amp; citations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12264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Every answer carries SitRep N° · date · page, so a human can check it in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36776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36776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76479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Tool use / function calling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112264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Claude decides when to call query_data (exact figures) or plot_chart (visuals).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21024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21024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749040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Structured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096512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Extraction and assessments are schema-validated JSON — nullable, never invented.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621024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621024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3749040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Prompt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096512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Externalised, versioned prompt templates; per-language rendering (FR/EN/PT).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621024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621024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749040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Evaluation &amp; holdout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096512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Recent reports can be withheld from the index to test retrieval honestly.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621024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3621024"/>
            <a:ext cx="54864" cy="178308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3749040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Token efficiency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096512"/>
            <a:ext cx="2340864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Prompt caching plus history compaction keep multi-turn chat fast and affordable.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Six capabilities over one grounded data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360273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91056"/>
            <a:ext cx="54864" cy="1572768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19072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Grounded chat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66544"/>
            <a:ext cx="32735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Multi-turn Q&amp;A in FR / EN / PT. Tools: query_data (exact figures) + plot_chart (trends). Always cited.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591056"/>
            <a:ext cx="360273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591056"/>
            <a:ext cx="54864" cy="1572768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719072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Outbreak summary + epi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066544"/>
            <a:ext cx="32735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KPI, per-province &amp; per-zone time-series: cases, deaths, CFR%, labs, contacts, IPC, vaccination.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591056"/>
            <a:ext cx="360273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591056"/>
            <a:ext cx="54864" cy="1572768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19072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Single-document 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66544"/>
            <a:ext cx="32735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Scores 1 report on 5 dimensions, flags arithmetic &amp; consistency issues by severity.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46704"/>
            <a:ext cx="360273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46704"/>
            <a:ext cx="54864" cy="1572768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47472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Document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822192"/>
            <a:ext cx="32735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Validates two reports: totals must not drop; flags suspect jumps, contradictions, section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8536" y="3346704"/>
            <a:ext cx="360273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3346704"/>
            <a:ext cx="54864" cy="1572768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9704" y="347472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Topics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3822192"/>
            <a:ext cx="32735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Extracts gaps &amp; challenges per report, themes them, synthesises recurring bottlenecks.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4152" y="3346704"/>
            <a:ext cx="360273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4152" y="3346704"/>
            <a:ext cx="54864" cy="1572768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474720"/>
            <a:ext cx="3273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SitRep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22192"/>
            <a:ext cx="32735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E2B2F"/>
                </a:solidFill>
                <a:latin typeface="Segoe UI"/>
              </a:rPr>
              <a:t>Add a report via INSP link, PDF URL or upload → auto parse, extract, index, aggregate.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57216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66944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4F5C"/>
                </a:solidFill>
                <a:latin typeface="Segoe UI"/>
              </a:rPr>
              <a:t>The data core beneath them all  </a:t>
            </a:r>
            <a:r>
              <a:rPr sz="1200" b="0" i="0">
                <a:solidFill>
                  <a:srgbClr val="1E2B2F"/>
                </a:solidFill>
                <a:latin typeface="Segoe UI"/>
              </a:rPr>
              <a:t>JSON 'facts' datasets (exact numbers)  +  Chroma vector store (semantic search)  +  externalised prompts  +  Claude for extraction, analysis &amp; synthesis.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Ingest once, serve 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618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E73"/>
                </a:solidFill>
                <a:latin typeface="Segoe UI"/>
              </a:rPr>
              <a:t>Structured facts and semantic text, side by side — built once at ingest, queried everywhere.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578608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578608"/>
            <a:ext cx="17465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4F5C"/>
                </a:solidFill>
                <a:latin typeface="Segoe UI"/>
              </a:rPr>
              <a:t>Source SitReps</a:t>
            </a:r>
          </a:p>
          <a:p>
            <a:pPr algn="l"/>
            <a:r>
              <a:rPr sz="950" b="0" i="0">
                <a:solidFill>
                  <a:srgbClr val="5E6E73"/>
                </a:solidFill>
                <a:latin typeface="Segoe UI"/>
              </a:rPr>
              <a:t>INSP PDFs / JSON bundle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2032" y="2907792"/>
            <a:ext cx="310896" cy="201168"/>
          </a:xfrm>
          <a:prstGeom prst="rightArrow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2578608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578608"/>
            <a:ext cx="17465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4F5C"/>
                </a:solidFill>
                <a:latin typeface="Segoe UI"/>
              </a:rPr>
              <a:t>Ingest pipeline</a:t>
            </a:r>
          </a:p>
          <a:p>
            <a:pPr algn="l"/>
            <a:r>
              <a:rPr sz="950" b="0" i="0">
                <a:solidFill>
                  <a:srgbClr val="5E6E73"/>
                </a:solidFill>
                <a:latin typeface="Segoe UI"/>
              </a:rPr>
              <a:t>parse · chunk · page markers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65192" y="2907792"/>
            <a:ext cx="310896" cy="201168"/>
          </a:xfrm>
          <a:prstGeom prst="rightArrow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201168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2011680"/>
            <a:ext cx="2249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4F5C"/>
                </a:solidFill>
                <a:latin typeface="Segoe UI"/>
              </a:rPr>
              <a:t>Structured facts (JSON)</a:t>
            </a:r>
          </a:p>
          <a:p>
            <a:pPr algn="l"/>
            <a:r>
              <a:rPr sz="950" b="0" i="0">
                <a:solidFill>
                  <a:srgbClr val="5E6E73"/>
                </a:solidFill>
                <a:latin typeface="Segoe UI"/>
              </a:rPr>
              <a:t>KPI · province · zone · pillars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145536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8968" y="3145536"/>
            <a:ext cx="2249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4F5C"/>
                </a:solidFill>
                <a:latin typeface="Segoe UI"/>
              </a:rPr>
              <a:t>Vector store (Chroma)</a:t>
            </a:r>
          </a:p>
          <a:p>
            <a:pPr algn="l"/>
            <a:r>
              <a:rPr sz="950" b="0" i="0">
                <a:solidFill>
                  <a:srgbClr val="5E6E73"/>
                </a:solidFill>
                <a:latin typeface="Segoe UI"/>
              </a:rPr>
              <a:t>Voyage embeddings · top-k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91272" y="2907792"/>
            <a:ext cx="310896" cy="201168"/>
          </a:xfrm>
          <a:prstGeom prst="rightArrow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2578608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578608"/>
            <a:ext cx="31638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Claude</a:t>
            </a:r>
          </a:p>
          <a:p>
            <a:pPr algn="l"/>
            <a:r>
              <a:rPr sz="950" b="0" i="0">
                <a:solidFill>
                  <a:srgbClr val="C8D9DC"/>
                </a:solidFill>
                <a:latin typeface="Segoe UI"/>
              </a:rPr>
              <a:t>extract · assess · compare · synthesise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78808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78808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FastAPI backend · /api/*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361688"/>
            <a:ext cx="708660" cy="411480"/>
          </a:xfrm>
          <a:prstGeom prst="roundRect">
            <a:avLst>
              <a:gd name="adj" fmla="val 50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4F5C"/>
                </a:solidFill>
                <a:latin typeface="Consolas"/>
              </a:rPr>
              <a:t>/chat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1668" y="4361688"/>
            <a:ext cx="982980" cy="411480"/>
          </a:xfrm>
          <a:prstGeom prst="roundRect">
            <a:avLst>
              <a:gd name="adj" fmla="val 50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4F5C"/>
                </a:solidFill>
                <a:latin typeface="Consolas"/>
              </a:rPr>
              <a:t>/overview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94376" y="4361688"/>
            <a:ext cx="1737360" cy="411480"/>
          </a:xfrm>
          <a:prstGeom prst="roundRect">
            <a:avLst>
              <a:gd name="adj" fmla="val 50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4F5C"/>
                </a:solidFill>
                <a:latin typeface="Consolas"/>
              </a:rPr>
              <a:t>/data-quality/assess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4" y="4361688"/>
            <a:ext cx="1805940" cy="411480"/>
          </a:xfrm>
          <a:prstGeom prst="roundRect">
            <a:avLst>
              <a:gd name="adj" fmla="val 50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4F5C"/>
                </a:solidFill>
                <a:latin typeface="Consolas"/>
              </a:rPr>
              <a:t>/data-quality/compare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7132" y="4361688"/>
            <a:ext cx="1120140" cy="411480"/>
          </a:xfrm>
          <a:prstGeom prst="roundRect">
            <a:avLst>
              <a:gd name="adj" fmla="val 50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4F5C"/>
                </a:solidFill>
                <a:latin typeface="Consolas"/>
              </a:rPr>
              <a:t>/topics/run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4361688"/>
            <a:ext cx="914400" cy="411480"/>
          </a:xfrm>
          <a:prstGeom prst="roundRect">
            <a:avLst>
              <a:gd name="adj" fmla="val 50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4F5C"/>
                </a:solidFill>
                <a:latin typeface="Consolas"/>
              </a:rPr>
              <a:t>/sitreps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65776"/>
            <a:ext cx="111556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65776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4F5C"/>
                </a:solidFill>
                <a:latin typeface="Segoe UI"/>
              </a:rPr>
              <a:t>Frontend  </a:t>
            </a:r>
            <a:r>
              <a:rPr sz="1150" b="0" i="0">
                <a:solidFill>
                  <a:srgbClr val="5E6E73"/>
                </a:solidFill>
                <a:latin typeface="Segoe UI"/>
              </a:rPr>
              <a:t>6 screens · FR/EN/PT · live API data · Plotly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24144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24144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B4F5C"/>
                </a:solidFill>
                <a:latin typeface="Segoe UI"/>
              </a:rPr>
              <a:t>Caching &amp; incrementality  </a:t>
            </a:r>
            <a:r>
              <a:rPr sz="1150" b="0" i="0">
                <a:solidFill>
                  <a:srgbClr val="1E2B2F"/>
                </a:solidFill>
                <a:latin typeface="Segoe UI"/>
              </a:rPr>
              <a:t>per-report extraction is cached — a new upload only extracts itself, then re-aggregates the datasets.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TOPICS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Turning narrative 'défis &amp; lacunes' into a strategic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618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E73"/>
                </a:solidFill>
                <a:latin typeface="Segoe UI"/>
              </a:rPr>
              <a:t>Each report buries its real story in prose — the gaps, constraints and unmet needs. The system extracts, themes, and synthesises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02536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02536"/>
            <a:ext cx="54864" cy="160020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30552"/>
            <a:ext cx="5065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1 · Extract  (gaps_extract.md)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78024"/>
            <a:ext cx="506577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E2B2F"/>
                </a:solidFill>
                <a:latin typeface="Segoe UI"/>
              </a:rPr>
              <a:t>Claude reads each SitRep and returns JSON items:
{ sitrep_number, date, theme, detail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85616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85616"/>
            <a:ext cx="54864" cy="160020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913632"/>
            <a:ext cx="5065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2 · Synthesise  (gaps_synthesise.md)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61104"/>
            <a:ext cx="506577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E2B2F"/>
                </a:solidFill>
                <a:latin typeface="Segoe UI"/>
              </a:rPr>
              <a:t>Aggregates all items into a narrative of the chronic bottlenecks, cached for reuse.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02536"/>
            <a:ext cx="5513832" cy="3383280"/>
          </a:xfrm>
          <a:prstGeom prst="roundRect">
            <a:avLst>
              <a:gd name="adj" fmla="val 6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854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THEMES TRACKED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642616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Financement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642616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Surveillance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209544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Vaccination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209544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Sécurité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776472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Logistique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776472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Engagement com.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343400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Ressources hum.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343400"/>
            <a:ext cx="24231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FA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Laboratoire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68696"/>
            <a:ext cx="11183112" cy="777240"/>
          </a:xfrm>
          <a:prstGeom prst="roundRect">
            <a:avLst>
              <a:gd name="adj" fmla="val 6000"/>
            </a:avLst>
          </a:prstGeom>
          <a:solidFill>
            <a:srgbClr val="E7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784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4F5C"/>
                </a:solidFill>
                <a:latin typeface="Segoe UI"/>
              </a:rPr>
              <a:t>Payoff  </a:t>
            </a:r>
            <a:r>
              <a:rPr sz="1200" b="0" i="0">
                <a:solidFill>
                  <a:srgbClr val="1E2B2F"/>
                </a:solidFill>
                <a:latin typeface="Segoe UI"/>
              </a:rPr>
              <a:t>a coordinator sees that financing and logistics gaps recur for weeks — evidence for where to push, not a vague impression.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Lean, mostly-local, API-light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82496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82496"/>
            <a:ext cx="54864" cy="301752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1051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AI &amp;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57984"/>
            <a:ext cx="2340864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Anthropic Claude — Sonnet default,
Opus for the hardest tasks
Tool-forcing for structured JSON
Prompts externalised in /prompts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82496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82496"/>
            <a:ext cx="54864" cy="301752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81051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57984"/>
            <a:ext cx="2340864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Voyage AI multilingual embeddings
Chroma local persistent vector DB
~1400-char chunks, 200 overlap
Top-k = 8, page-level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82496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82496"/>
            <a:ext cx="54864" cy="301752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1051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Backend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57984"/>
            <a:ext cx="2340864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FastAPI + Uvicorn (async)
pypdf text extraction
pandas · Plotly
JSON datasets + manifest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82496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82496"/>
            <a:ext cx="54864" cy="3017520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810512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4F5C"/>
                </a:solidFill>
                <a:latin typeface="Segoe UI"/>
              </a:rPr>
              <a:t>Platform &amp;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157984"/>
            <a:ext cx="2340864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B2F"/>
                </a:solidFill>
                <a:latin typeface="Segoe UI"/>
              </a:rPr>
              <a:t>Python 3.13, uv package manager
pytest (network-free mocks)
ruff + black, Makefile tasks
Claude-Design HTML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2976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B2F"/>
                </a:solidFill>
                <a:latin typeface="Georgia"/>
              </a:rPr>
              <a:t>Honest about today's edges —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0320"/>
          </a:xfrm>
          <a:prstGeom prst="rect">
            <a:avLst/>
          </a:prstGeom>
          <a:solidFill>
            <a:srgbClr val="E4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36776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6E73"/>
                </a:solidFill>
                <a:latin typeface="Segoe UI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85416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B2F"/>
                </a:solidFill>
                <a:latin typeface="Segoe UI"/>
              </a:rPr>
              <a:t>API keys &amp; cost  </a:t>
            </a:r>
            <a:r>
              <a:rPr sz="1100" b="0" i="0">
                <a:solidFill>
                  <a:srgbClr val="5E6E73"/>
                </a:solidFill>
                <a:latin typeface="Segoe UI"/>
              </a:rPr>
              <a:t>needs Anthropic + Voyage keys; LLM and embedding calls are metered usage.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B2F"/>
                </a:solidFill>
                <a:latin typeface="Segoe UI"/>
              </a:rPr>
              <a:t>No OCR  </a:t>
            </a:r>
            <a:r>
              <a:rPr sz="1100" b="0" i="0">
                <a:solidFill>
                  <a:srgbClr val="5E6E73"/>
                </a:solidFill>
                <a:latin typeface="Segoe UI"/>
              </a:rPr>
              <a:t>pypdf reads text only — scanned or image-only PDFs won't parse.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38728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B2F"/>
                </a:solidFill>
                <a:latin typeface="Segoe UI"/>
              </a:rPr>
              <a:t>Format-coupled  </a:t>
            </a:r>
            <a:r>
              <a:rPr sz="1100" b="0" i="0">
                <a:solidFill>
                  <a:srgbClr val="5E6E73"/>
                </a:solidFill>
                <a:latin typeface="Segoe UI"/>
              </a:rPr>
              <a:t>facts schema &amp; prompts are tuned to the INSP / MVE report layout.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15384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B2F"/>
                </a:solidFill>
                <a:latin typeface="Segoe UI"/>
              </a:rPr>
              <a:t>Human-in-the-loop  </a:t>
            </a:r>
            <a:r>
              <a:rPr sz="1100" b="0" i="0">
                <a:solidFill>
                  <a:srgbClr val="5E6E73"/>
                </a:solidFill>
                <a:latin typeface="Segoe UI"/>
              </a:rPr>
              <a:t>LLM extraction &amp; scoring assist analysts — they aren't authoritative.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B2F"/>
                </a:solidFill>
                <a:latin typeface="Segoe UI"/>
              </a:rPr>
              <a:t>Single-user &amp; local  </a:t>
            </a:r>
            <a:r>
              <a:rPr sz="1100" b="0" i="0">
                <a:solidFill>
                  <a:srgbClr val="5E6E73"/>
                </a:solidFill>
                <a:latin typeface="Segoe UI"/>
              </a:rPr>
              <a:t>local Chroma store; no auth, access control or multi-tenant serving.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36776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0B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E00"/>
                </a:solidFill>
                <a:latin typeface="Segoe UI"/>
              </a:rPr>
              <a:t>FUTURE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85416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Multi-outbreak support  </a:t>
            </a:r>
            <a:r>
              <a:rPr sz="1100" b="0" i="0">
                <a:solidFill>
                  <a:srgbClr val="C8D9DC"/>
                </a:solidFill>
                <a:latin typeface="Segoe UI"/>
              </a:rPr>
              <a:t>generalise schema &amp; prompts so any outbreak or agency can plug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62072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One-click DOCX export  </a:t>
            </a:r>
            <a:r>
              <a:rPr sz="1100" b="0" i="0">
                <a:solidFill>
                  <a:srgbClr val="C8D9DC"/>
                </a:solidFill>
                <a:latin typeface="Segoe UI"/>
              </a:rPr>
              <a:t>share a quality assessment or comparison as Word — no copy-paste.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538728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Deeper text analysis  </a:t>
            </a:r>
            <a:r>
              <a:rPr sz="1100" b="0" i="0">
                <a:solidFill>
                  <a:srgbClr val="C8D9DC"/>
                </a:solidFill>
                <a:latin typeface="Segoe UI"/>
              </a:rPr>
              <a:t>intervention timelines, partner engagement, response over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15384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Bring-your-own key  </a:t>
            </a:r>
            <a:r>
              <a:rPr sz="1100" b="0" i="0">
                <a:solidFill>
                  <a:srgbClr val="C8D9DC"/>
                </a:solidFill>
                <a:latin typeface="Segoe UI"/>
              </a:rPr>
              <a:t>users supply their own API keys and pick models per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892040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Hardening  </a:t>
            </a:r>
            <a:r>
              <a:rPr sz="1100" b="0" i="0">
                <a:solidFill>
                  <a:srgbClr val="C8D9DC"/>
                </a:solidFill>
                <a:latin typeface="Segoe UI"/>
              </a:rPr>
              <a:t>auth, OCR fallback, and formal retrieval benchmarking on the holdout 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E73"/>
                </a:solidFill>
                <a:latin typeface="Segoe UI"/>
              </a:rPr>
              <a:t>MVE / Ebola SitRep Intelligence  ·  INSP DRC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E6E7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D9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E00"/>
                </a:solidFill>
                <a:latin typeface="Segoe U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Faster, more trustworthy outbreak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97E00"/>
                </a:solidFill>
                <a:latin typeface="Georgia"/>
              </a:rPr>
              <a:t>40+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SitReps unified</a:t>
            </a:r>
          </a:p>
          <a:p>
            <a:pPr algn="l"/>
            <a:r>
              <a:rPr sz="1050" b="0" i="0">
                <a:solidFill>
                  <a:srgbClr val="9FB8BD"/>
                </a:solidFill>
                <a:latin typeface="Segoe UI"/>
              </a:rPr>
              <a:t>N°001 → N°042, one queryable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488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97E00"/>
                </a:solidFill>
                <a:latin typeface="Georg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71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quality dimensions</a:t>
            </a:r>
          </a:p>
          <a:p>
            <a:pPr algn="l"/>
            <a:r>
              <a:rPr sz="1050" b="0" i="0">
                <a:solidFill>
                  <a:srgbClr val="9FB8BD"/>
                </a:solidFill>
                <a:latin typeface="Segoe UI"/>
              </a:rPr>
              <a:t>scored on every single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97E00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languages</a:t>
            </a:r>
          </a:p>
          <a:p>
            <a:pPr algn="l"/>
            <a:r>
              <a:rPr sz="1050" b="0" i="0">
                <a:solidFill>
                  <a:srgbClr val="9FB8BD"/>
                </a:solidFill>
                <a:latin typeface="Segoe UI"/>
              </a:rPr>
              <a:t>FR · EN · PT, source-grounded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488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97E00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971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cited answers</a:t>
            </a:r>
          </a:p>
          <a:p>
            <a:pPr algn="l"/>
            <a:r>
              <a:rPr sz="1050" b="0" i="0">
                <a:solidFill>
                  <a:srgbClr val="9FB8BD"/>
                </a:solidFill>
                <a:latin typeface="Segoe UI"/>
              </a:rPr>
              <a:t>SitRep N° · date · page, every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E00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D9E4E6"/>
                </a:solidFill>
                <a:latin typeface="Segoe UI"/>
              </a:rPr>
              <a:t>From a pile of PDFs to a workspace analysts can interrogate.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8114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E00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D9E4E6"/>
                </a:solidFill>
                <a:latin typeface="Segoe UI"/>
              </a:rPr>
              <a:t>Numbers are verified, not just displayed — quality is a first-class output.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01768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E00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D9E4E6"/>
                </a:solidFill>
                <a:latin typeface="Segoe UI"/>
              </a:rPr>
              <a:t>Evolution is explicit: today vs. yesterday, with contradictions flagged.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2239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97E00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D9E4E6"/>
                </a:solidFill>
                <a:latin typeface="Segoe UI"/>
              </a:rPr>
              <a:t>Extensible by design — add a report, the whole picture updates.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FB8BD"/>
                </a:solidFill>
                <a:latin typeface="Segoe UI"/>
              </a:rPr>
              <a:t>Grounded · Verified · Multilingual · Always cited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