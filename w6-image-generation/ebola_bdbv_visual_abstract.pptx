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>
        <p:scale>
          <a:sx n="80" d="100"/>
          <a:sy n="80" d="100"/>
        </p:scale>
        <p:origin x="40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FAFA-FE32-2DB2-B4E9-837FDA1F5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7A39A5-40D4-6698-2014-D56C1972B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8A909-794B-6F8A-95FA-C225B641E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8B20-90B8-4A3F-AA5C-B74B7A694CE6}" type="datetimeFigureOut">
              <a:rPr lang="en-ZW" smtClean="0"/>
              <a:t>14/6/2026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F31F9-6CC7-6472-1BAB-FAF6B4F0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DEDC7-EB39-3A33-32EC-6ED0A654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0E9F-E691-4631-AC7B-9C797598B1C6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57235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5636-0F77-E857-73F7-F5EA061F4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93C25-B31A-2477-BBD7-AF381D6B8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DC4DB-547D-60DA-2FB7-A41B5849A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8B20-90B8-4A3F-AA5C-B74B7A694CE6}" type="datetimeFigureOut">
              <a:rPr lang="en-ZW" smtClean="0"/>
              <a:t>14/6/2026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D783E-070C-E45D-35AA-2BE093932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143BF-FD01-65AA-3DEE-B688DBBB3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0E9F-E691-4631-AC7B-9C797598B1C6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430415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13171-0B80-2C07-1E59-8C4E66EDC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DBFC67-871E-FC8D-F659-3E626B338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4386F-12B5-F93C-6C27-1DE9092B4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8B20-90B8-4A3F-AA5C-B74B7A694CE6}" type="datetimeFigureOut">
              <a:rPr lang="en-ZW" smtClean="0"/>
              <a:t>14/6/2026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3FA2E-0C03-8553-06BC-B93A75E6F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8B75C-39B5-285F-4935-E87DEEBD4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0E9F-E691-4631-AC7B-9C797598B1C6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411195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7C39E-5BE3-72F9-89E5-DCC399AC5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5D7B4-F27C-B618-2190-60D41BB5BC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2C6F6-B54C-A6A6-C55C-A796AC5C7B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3092-29AD-037A-8807-AF75D5DF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8B20-90B8-4A3F-AA5C-B74B7A694CE6}" type="datetimeFigureOut">
              <a:rPr lang="en-ZW" smtClean="0"/>
              <a:t>14/6/2026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99C47-1D51-99DC-D0A8-C9F658786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A69E8-B7D4-F5B7-9EBD-E0A3F1208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0E9F-E691-4631-AC7B-9C797598B1C6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8886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6C3B-2248-7376-8D51-699881DB7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0D9EEF-AC56-91B4-EE65-23F446BC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94AFD-3950-07EB-C85D-B3D0B8CB9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E6D7B-E453-19FE-34C6-60F7EB74A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DB86E6-E60D-696B-C402-BD77D3C50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CB41ED-55DF-F4C5-4529-71D0A9EC8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8B20-90B8-4A3F-AA5C-B74B7A694CE6}" type="datetimeFigureOut">
              <a:rPr lang="en-ZW" smtClean="0"/>
              <a:t>14/6/2026</a:t>
            </a:fld>
            <a:endParaRPr lang="en-Z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B6A47A-B796-D802-800E-4B8123E0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127B2D-045F-4E2E-281C-114274043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0E9F-E691-4631-AC7B-9C797598B1C6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057030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B884-2E53-3376-15DC-0C74E481A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11EAF-0F78-ED8F-F775-05BD528FC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8B20-90B8-4A3F-AA5C-B74B7A694CE6}" type="datetimeFigureOut">
              <a:rPr lang="en-ZW" smtClean="0"/>
              <a:t>14/6/2026</a:t>
            </a:fld>
            <a:endParaRPr lang="en-Z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C9475F-44B7-C091-B235-FD95D1345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7EDA5A-FFE0-9DEE-7F18-3C19B2DB4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0E9F-E691-4631-AC7B-9C797598B1C6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779807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109021-D8BA-3A91-D5C9-02D2D1733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8B20-90B8-4A3F-AA5C-B74B7A694CE6}" type="datetimeFigureOut">
              <a:rPr lang="en-ZW" smtClean="0"/>
              <a:t>14/6/2026</a:t>
            </a:fld>
            <a:endParaRPr lang="en-Z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8DE5CE-7FA3-2C62-EAA3-CCE195716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224E7-9EEA-7721-CBD0-16368D0C0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0E9F-E691-4631-AC7B-9C797598B1C6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316041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5582-074C-64B6-469B-F4D6183F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8083C-0ECA-C015-E4E7-C484941FA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D8132-F271-2AC7-FABC-0F701667F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EDBD4-BD90-0012-8214-473834FA4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8B20-90B8-4A3F-AA5C-B74B7A694CE6}" type="datetimeFigureOut">
              <a:rPr lang="en-ZW" smtClean="0"/>
              <a:t>14/6/2026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ED9EA-932B-0297-F4D6-E5CDEC5CA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A0C0F-16E0-33AB-8B83-7CA12AB0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0E9F-E691-4631-AC7B-9C797598B1C6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178815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4D76A-7AC4-AF64-92C9-360F857E8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9AC723-EDD8-2969-89EA-8CCEB127A1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C02FF-3D72-0E03-8EC5-183233C2E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7FEF2-1C65-C4C7-CB41-234B5DE76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8B20-90B8-4A3F-AA5C-B74B7A694CE6}" type="datetimeFigureOut">
              <a:rPr lang="en-ZW" smtClean="0"/>
              <a:t>14/6/2026</a:t>
            </a:fld>
            <a:endParaRPr lang="en-Z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DBAA8-B933-52C4-C3C9-92CB6C68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6660D-E9BA-848E-935D-4BBF12585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0E9F-E691-4631-AC7B-9C797598B1C6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604034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9D3DE-9352-641D-A779-E8DE2CF1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BA8D5-B0B3-4481-53EF-6DDA5A2FE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2DDE0-8338-1ECE-2894-39337D4B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8B20-90B8-4A3F-AA5C-B74B7A694CE6}" type="datetimeFigureOut">
              <a:rPr lang="en-ZW" smtClean="0"/>
              <a:t>14/6/2026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1FACE-D638-62AD-05C1-517DB1568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18D1E-D8E0-3168-A03D-AA14B27F6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0E9F-E691-4631-AC7B-9C797598B1C6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2452394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3219C8-BA03-E306-DA5A-0C260BFB2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EF2D-9696-3502-1FA3-3C2F8C55C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9E4CF-4417-0AA7-939A-5F1138F9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8B20-90B8-4A3F-AA5C-B74B7A694CE6}" type="datetimeFigureOut">
              <a:rPr lang="en-ZW" smtClean="0"/>
              <a:t>14/6/2026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60685-F299-0CF7-5952-7B59D25E7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E118F-BE50-095A-9B08-17F9E9D7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20E9F-E691-4631-AC7B-9C797598B1C6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129250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EEC147-14B3-083A-9431-BB9CB2C88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97A6E-BADC-85F2-7262-394CD79BE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7CFB9-8673-0EE8-2CB5-C9DB4DD20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228B20-90B8-4A3F-AA5C-B74B7A694CE6}" type="datetimeFigureOut">
              <a:rPr lang="en-ZW" smtClean="0"/>
              <a:t>14/6/2026</a:t>
            </a:fld>
            <a:endParaRPr lang="en-Z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1E95C-462A-F723-9FC0-820DCB657C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1220-D769-E771-D9B0-4A121CA7E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20E9F-E691-4631-AC7B-9C797598B1C6}" type="slidenum">
              <a:rPr lang="en-ZW" smtClean="0"/>
              <a:t>‹#›</a:t>
            </a:fld>
            <a:endParaRPr lang="en-ZW"/>
          </a:p>
        </p:txBody>
      </p:sp>
    </p:spTree>
    <p:extLst>
      <p:ext uri="{BB962C8B-B14F-4D97-AF65-F5344CB8AC3E}">
        <p14:creationId xmlns:p14="http://schemas.microsoft.com/office/powerpoint/2010/main" val="344190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0">
            <a:extLst>
              <a:ext uri="{FF2B5EF4-FFF2-40B4-BE49-F238E27FC236}">
                <a16:creationId xmlns:a16="http://schemas.microsoft.com/office/drawing/2014/main" id="{DBAA01E8-F34A-03FD-16B5-DBECF356AA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544" y="-11952"/>
            <a:ext cx="10598727" cy="68580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DB5A0C05-7E54-0706-4E59-7F9CA31EBBA1}"/>
              </a:ext>
            </a:extLst>
          </p:cNvPr>
          <p:cNvSpPr txBox="1"/>
          <p:nvPr/>
        </p:nvSpPr>
        <p:spPr>
          <a:xfrm>
            <a:off x="10303436" y="1601694"/>
            <a:ext cx="1745130" cy="646331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PNG version of original</a:t>
            </a:r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1682034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8CAA8-4FB7-4250-BB86-5E9C60BC3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3AB598-BEC1-E708-BC96-B5DE08BBC72C}"/>
              </a:ext>
            </a:extLst>
          </p:cNvPr>
          <p:cNvSpPr/>
          <p:nvPr/>
        </p:nvSpPr>
        <p:spPr>
          <a:xfrm>
            <a:off x="230544" y="238853"/>
            <a:ext cx="4777025" cy="6088366"/>
          </a:xfrm>
          <a:prstGeom prst="roundRect">
            <a:avLst>
              <a:gd name="adj" fmla="val 3921"/>
            </a:avLst>
          </a:prstGeom>
          <a:solidFill>
            <a:schemeClr val="tx2">
              <a:lumMod val="10000"/>
              <a:lumOff val="90000"/>
            </a:schemeClr>
          </a:solidFill>
          <a:ln w="7802" cap="flat">
            <a:solidFill>
              <a:srgbClr val="F09595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11B9DA-1625-E987-2E34-02E34B728FDA}"/>
              </a:ext>
            </a:extLst>
          </p:cNvPr>
          <p:cNvSpPr/>
          <p:nvPr/>
        </p:nvSpPr>
        <p:spPr>
          <a:xfrm>
            <a:off x="5319794" y="238853"/>
            <a:ext cx="4777025" cy="6088366"/>
          </a:xfrm>
          <a:prstGeom prst="roundRect">
            <a:avLst>
              <a:gd name="adj" fmla="val 3921"/>
            </a:avLst>
          </a:prstGeom>
          <a:solidFill>
            <a:srgbClr val="FFC000"/>
          </a:solidFill>
          <a:ln w="7802" cap="flat">
            <a:solidFill>
              <a:srgbClr val="85B7EB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5FCC68-6B7C-A961-63C7-BDD2859479CE}"/>
              </a:ext>
            </a:extLst>
          </p:cNvPr>
          <p:cNvSpPr/>
          <p:nvPr/>
        </p:nvSpPr>
        <p:spPr>
          <a:xfrm>
            <a:off x="230544" y="238853"/>
            <a:ext cx="9866275" cy="686892"/>
          </a:xfrm>
          <a:prstGeom prst="roundRect">
            <a:avLst>
              <a:gd name="adj" fmla="val 27272"/>
            </a:avLst>
          </a:prstGeom>
          <a:solidFill>
            <a:srgbClr val="A32D2D"/>
          </a:solidFill>
          <a:ln w="15604" cap="flat">
            <a:noFill/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1F15E3-9007-EE47-507C-5AFD18B382FD}"/>
              </a:ext>
            </a:extLst>
          </p:cNvPr>
          <p:cNvSpPr/>
          <p:nvPr/>
        </p:nvSpPr>
        <p:spPr>
          <a:xfrm>
            <a:off x="230544" y="675966"/>
            <a:ext cx="9866275" cy="249779"/>
          </a:xfrm>
          <a:prstGeom prst="rect">
            <a:avLst/>
          </a:prstGeom>
          <a:solidFill>
            <a:srgbClr val="A32D2D"/>
          </a:solidFill>
          <a:ln w="15604" cap="flat">
            <a:noFill/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27ACCB-4842-39D3-F9C9-93A14E99876C}"/>
              </a:ext>
            </a:extLst>
          </p:cNvPr>
          <p:cNvSpPr txBox="1"/>
          <p:nvPr/>
        </p:nvSpPr>
        <p:spPr>
          <a:xfrm>
            <a:off x="1045057" y="416781"/>
            <a:ext cx="799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400" b="1" spc="0" baseline="0" dirty="0">
                <a:ln/>
                <a:solidFill>
                  <a:srgbClr val="FCEBEB"/>
                </a:solidFill>
                <a:latin typeface="Arial"/>
                <a:cs typeface="Arial"/>
                <a:sym typeface="Arial"/>
                <a:rtl val="0"/>
              </a:rPr>
              <a:t>Bundibugyo ebolavirus (BDBV) - Public Health Emergency of International Concern (PHEIC)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954310-5427-11DE-A2A4-9BFC419EF25C}"/>
              </a:ext>
            </a:extLst>
          </p:cNvPr>
          <p:cNvSpPr txBox="1"/>
          <p:nvPr/>
        </p:nvSpPr>
        <p:spPr>
          <a:xfrm>
            <a:off x="1681647" y="1008528"/>
            <a:ext cx="1463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200" spc="0" baseline="0">
                <a:ln/>
                <a:solidFill>
                  <a:srgbClr val="791F1F"/>
                </a:solidFill>
                <a:latin typeface="Arial"/>
                <a:cs typeface="Arial"/>
                <a:sym typeface="Arial"/>
                <a:rtl val="0"/>
              </a:rPr>
              <a:t>Outbreak overview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1412C1C-EE35-7BA8-C270-04FEF51FCAB7}"/>
              </a:ext>
            </a:extLst>
          </p:cNvPr>
          <p:cNvSpPr/>
          <p:nvPr/>
        </p:nvSpPr>
        <p:spPr>
          <a:xfrm>
            <a:off x="573990" y="1581415"/>
            <a:ext cx="187334" cy="187334"/>
          </a:xfrm>
          <a:prstGeom prst="ellipse">
            <a:avLst/>
          </a:prstGeom>
          <a:solidFill>
            <a:srgbClr val="A32D2D"/>
          </a:solidFill>
          <a:ln w="15604" cap="flat">
            <a:noFill/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2F628EB-5F53-0687-208A-A692C3AABB64}"/>
              </a:ext>
            </a:extLst>
          </p:cNvPr>
          <p:cNvSpPr/>
          <p:nvPr/>
        </p:nvSpPr>
        <p:spPr>
          <a:xfrm>
            <a:off x="917437" y="1487748"/>
            <a:ext cx="3871576" cy="530780"/>
          </a:xfrm>
          <a:prstGeom prst="roundRect">
            <a:avLst>
              <a:gd name="adj" fmla="val 17647"/>
            </a:avLst>
          </a:prstGeom>
          <a:solidFill>
            <a:srgbClr val="F7C1C1"/>
          </a:solidFill>
          <a:ln w="7802" cap="flat">
            <a:solidFill>
              <a:srgbClr val="F09595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1839A9-2928-8504-9299-66DF1A98EADC}"/>
              </a:ext>
            </a:extLst>
          </p:cNvPr>
          <p:cNvSpPr txBox="1"/>
          <p:nvPr/>
        </p:nvSpPr>
        <p:spPr>
          <a:xfrm>
            <a:off x="1444682" y="1475385"/>
            <a:ext cx="2345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200" spc="0" baseline="0">
                <a:ln/>
                <a:solidFill>
                  <a:srgbClr val="501313"/>
                </a:solidFill>
                <a:latin typeface="Arial"/>
                <a:cs typeface="Arial"/>
                <a:sym typeface="Arial"/>
                <a:rtl val="0"/>
              </a:rPr>
              <a:t>5 May 2026 - Reported to WHO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2406D7-E6CA-3F37-287F-7EF45B06F914}"/>
              </a:ext>
            </a:extLst>
          </p:cNvPr>
          <p:cNvSpPr txBox="1"/>
          <p:nvPr/>
        </p:nvSpPr>
        <p:spPr>
          <a:xfrm>
            <a:off x="1597329" y="1692463"/>
            <a:ext cx="201689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791F1F"/>
                </a:solidFill>
                <a:latin typeface="Arial"/>
                <a:cs typeface="Arial"/>
                <a:sym typeface="Arial"/>
                <a:rtl val="0"/>
              </a:rPr>
              <a:t>Democratic Republic of Congo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B3096A4-A0A6-372E-4912-771B34649336}"/>
              </a:ext>
            </a:extLst>
          </p:cNvPr>
          <p:cNvSpPr/>
          <p:nvPr/>
        </p:nvSpPr>
        <p:spPr>
          <a:xfrm>
            <a:off x="667658" y="2018529"/>
            <a:ext cx="15611" cy="281001"/>
          </a:xfrm>
          <a:custGeom>
            <a:avLst/>
            <a:gdLst>
              <a:gd name="csX0" fmla="*/ 0 w 15611"/>
              <a:gd name="csY0" fmla="*/ 0 h 281001"/>
              <a:gd name="csX1" fmla="*/ 0 w 15611"/>
              <a:gd name="csY1" fmla="*/ 281002 h 281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611" h="281001">
                <a:moveTo>
                  <a:pt x="0" y="0"/>
                </a:moveTo>
                <a:lnTo>
                  <a:pt x="0" y="281002"/>
                </a:lnTo>
              </a:path>
            </a:pathLst>
          </a:custGeom>
          <a:ln w="23406" cap="flat">
            <a:solidFill>
              <a:srgbClr val="A32D2D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F4BBD1E-5FCD-6E68-EC0F-DE74210E041C}"/>
              </a:ext>
            </a:extLst>
          </p:cNvPr>
          <p:cNvSpPr/>
          <p:nvPr/>
        </p:nvSpPr>
        <p:spPr>
          <a:xfrm>
            <a:off x="573990" y="2299530"/>
            <a:ext cx="187334" cy="187334"/>
          </a:xfrm>
          <a:prstGeom prst="ellipse">
            <a:avLst/>
          </a:prstGeom>
          <a:solidFill>
            <a:srgbClr val="A32D2D"/>
          </a:solidFill>
          <a:ln w="15604" cap="flat">
            <a:noFill/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DB03B9-F1D2-6A91-8357-8AFF53DDCE33}"/>
              </a:ext>
            </a:extLst>
          </p:cNvPr>
          <p:cNvSpPr/>
          <p:nvPr/>
        </p:nvSpPr>
        <p:spPr>
          <a:xfrm>
            <a:off x="917437" y="2205863"/>
            <a:ext cx="3871576" cy="530780"/>
          </a:xfrm>
          <a:prstGeom prst="roundRect">
            <a:avLst>
              <a:gd name="adj" fmla="val 17647"/>
            </a:avLst>
          </a:prstGeom>
          <a:solidFill>
            <a:srgbClr val="F7C1C1"/>
          </a:solidFill>
          <a:ln w="7802" cap="flat">
            <a:solidFill>
              <a:srgbClr val="F09595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128466-EB4B-63E0-50BA-4D2432ABA826}"/>
              </a:ext>
            </a:extLst>
          </p:cNvPr>
          <p:cNvSpPr txBox="1"/>
          <p:nvPr/>
        </p:nvSpPr>
        <p:spPr>
          <a:xfrm>
            <a:off x="2001471" y="2193500"/>
            <a:ext cx="1428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200" spc="0" baseline="0">
                <a:ln/>
                <a:solidFill>
                  <a:srgbClr val="501313"/>
                </a:solidFill>
                <a:latin typeface="Arial"/>
                <a:cs typeface="Arial"/>
                <a:sym typeface="Arial"/>
                <a:rtl val="0"/>
              </a:rPr>
              <a:t>Spread to Uganda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2CA758-6426-F9BB-3FDC-8F1C0C9B97F5}"/>
              </a:ext>
            </a:extLst>
          </p:cNvPr>
          <p:cNvSpPr txBox="1"/>
          <p:nvPr/>
        </p:nvSpPr>
        <p:spPr>
          <a:xfrm>
            <a:off x="1354167" y="2410578"/>
            <a:ext cx="23984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791F1F"/>
                </a:solidFill>
                <a:latin typeface="Arial"/>
                <a:cs typeface="Arial"/>
                <a:sym typeface="Arial"/>
                <a:rtl val="0"/>
              </a:rPr>
              <a:t>Cross-border transmission confirmed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7106119-BFAE-FC38-042C-E109B8F31A49}"/>
              </a:ext>
            </a:extLst>
          </p:cNvPr>
          <p:cNvSpPr/>
          <p:nvPr/>
        </p:nvSpPr>
        <p:spPr>
          <a:xfrm>
            <a:off x="667658" y="2736644"/>
            <a:ext cx="15611" cy="281001"/>
          </a:xfrm>
          <a:custGeom>
            <a:avLst/>
            <a:gdLst>
              <a:gd name="csX0" fmla="*/ 0 w 15611"/>
              <a:gd name="csY0" fmla="*/ 0 h 281001"/>
              <a:gd name="csX1" fmla="*/ 0 w 15611"/>
              <a:gd name="csY1" fmla="*/ 281002 h 28100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611" h="281001">
                <a:moveTo>
                  <a:pt x="0" y="0"/>
                </a:moveTo>
                <a:lnTo>
                  <a:pt x="0" y="281002"/>
                </a:lnTo>
              </a:path>
            </a:pathLst>
          </a:custGeom>
          <a:ln w="23406" cap="flat">
            <a:solidFill>
              <a:srgbClr val="A32D2D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4851081-6C0F-A42E-9BAD-EFC1C2706ABE}"/>
              </a:ext>
            </a:extLst>
          </p:cNvPr>
          <p:cNvSpPr/>
          <p:nvPr/>
        </p:nvSpPr>
        <p:spPr>
          <a:xfrm>
            <a:off x="573990" y="3017645"/>
            <a:ext cx="187334" cy="187334"/>
          </a:xfrm>
          <a:prstGeom prst="ellipse">
            <a:avLst/>
          </a:prstGeom>
          <a:solidFill>
            <a:srgbClr val="993535"/>
          </a:solidFill>
          <a:ln w="15604" cap="flat">
            <a:noFill/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E6045E7-DFB3-72DA-BAF9-40469039101C}"/>
              </a:ext>
            </a:extLst>
          </p:cNvPr>
          <p:cNvSpPr/>
          <p:nvPr/>
        </p:nvSpPr>
        <p:spPr>
          <a:xfrm>
            <a:off x="917437" y="2923978"/>
            <a:ext cx="3871576" cy="530780"/>
          </a:xfrm>
          <a:prstGeom prst="roundRect">
            <a:avLst>
              <a:gd name="adj" fmla="val 17647"/>
            </a:avLst>
          </a:prstGeom>
          <a:solidFill>
            <a:srgbClr val="F7C1C1"/>
          </a:solidFill>
          <a:ln w="7802" cap="flat">
            <a:solidFill>
              <a:srgbClr val="F09595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E63FAF-243C-DEE5-CFBE-B9ACEF6978B6}"/>
              </a:ext>
            </a:extLst>
          </p:cNvPr>
          <p:cNvSpPr txBox="1"/>
          <p:nvPr/>
        </p:nvSpPr>
        <p:spPr>
          <a:xfrm>
            <a:off x="1465400" y="2911615"/>
            <a:ext cx="2308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200" spc="0" baseline="0">
                <a:ln/>
                <a:solidFill>
                  <a:srgbClr val="501313"/>
                </a:solidFill>
                <a:latin typeface="Arial"/>
                <a:cs typeface="Arial"/>
                <a:sym typeface="Arial"/>
                <a:rtl val="0"/>
              </a:rPr>
              <a:t>17 May 2026 - PHEIC declared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613E70-3079-6BA4-40C6-45B5C7B85C90}"/>
              </a:ext>
            </a:extLst>
          </p:cNvPr>
          <p:cNvSpPr txBox="1"/>
          <p:nvPr/>
        </p:nvSpPr>
        <p:spPr>
          <a:xfrm>
            <a:off x="1654892" y="3128693"/>
            <a:ext cx="192232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791F1F"/>
                </a:solidFill>
                <a:latin typeface="Arial"/>
                <a:cs typeface="Arial"/>
                <a:sym typeface="Arial"/>
                <a:rtl val="0"/>
              </a:rPr>
              <a:t>WHO Emergency Committee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745874A-065C-233B-9E76-867BE73CF5C9}"/>
              </a:ext>
            </a:extLst>
          </p:cNvPr>
          <p:cNvSpPr/>
          <p:nvPr/>
        </p:nvSpPr>
        <p:spPr>
          <a:xfrm>
            <a:off x="417879" y="3735760"/>
            <a:ext cx="2029455" cy="1030338"/>
          </a:xfrm>
          <a:prstGeom prst="roundRect">
            <a:avLst>
              <a:gd name="adj" fmla="val 12121"/>
            </a:avLst>
          </a:prstGeom>
          <a:solidFill>
            <a:srgbClr val="E24B4A"/>
          </a:solidFill>
          <a:ln w="7802" cap="flat">
            <a:solidFill>
              <a:srgbClr val="A32D2D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2D35A6-ABF4-1E26-E3C3-838E16DE9829}"/>
              </a:ext>
            </a:extLst>
          </p:cNvPr>
          <p:cNvSpPr txBox="1"/>
          <p:nvPr/>
        </p:nvSpPr>
        <p:spPr>
          <a:xfrm>
            <a:off x="1054654" y="3706963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2400" spc="0" baseline="0">
                <a:ln/>
                <a:solidFill>
                  <a:srgbClr val="FCEBEB"/>
                </a:solidFill>
                <a:latin typeface="Arial"/>
                <a:cs typeface="Arial"/>
                <a:sym typeface="Arial"/>
                <a:rtl val="0"/>
              </a:rPr>
              <a:t>139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92C7C6-32B9-DC11-206A-2D685D8D4578}"/>
              </a:ext>
            </a:extLst>
          </p:cNvPr>
          <p:cNvSpPr txBox="1"/>
          <p:nvPr/>
        </p:nvSpPr>
        <p:spPr>
          <a:xfrm>
            <a:off x="682531" y="4143421"/>
            <a:ext cx="12202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F7C1C1"/>
                </a:solidFill>
                <a:latin typeface="Arial"/>
                <a:cs typeface="Arial"/>
                <a:sym typeface="Arial"/>
                <a:rtl val="0"/>
              </a:rPr>
              <a:t>confirmed deaths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A0FAE0-1353-148C-E3AF-C9B3A7974A59}"/>
              </a:ext>
            </a:extLst>
          </p:cNvPr>
          <p:cNvSpPr txBox="1"/>
          <p:nvPr/>
        </p:nvSpPr>
        <p:spPr>
          <a:xfrm>
            <a:off x="703569" y="4407332"/>
            <a:ext cx="12298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00" spc="0" baseline="0">
                <a:ln/>
                <a:solidFill>
                  <a:srgbClr val="F7C1C1"/>
                </a:solidFill>
                <a:latin typeface="Arial"/>
                <a:cs typeface="Arial"/>
                <a:sym typeface="Arial"/>
                <a:rtl val="0"/>
              </a:rPr>
              <a:t>DRC (as of report)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DB87179-7813-1797-7C97-ECBA492CAC9B}"/>
              </a:ext>
            </a:extLst>
          </p:cNvPr>
          <p:cNvSpPr/>
          <p:nvPr/>
        </p:nvSpPr>
        <p:spPr>
          <a:xfrm>
            <a:off x="2697113" y="3735760"/>
            <a:ext cx="2091900" cy="1030338"/>
          </a:xfrm>
          <a:prstGeom prst="roundRect">
            <a:avLst>
              <a:gd name="adj" fmla="val 12121"/>
            </a:avLst>
          </a:prstGeom>
          <a:solidFill>
            <a:srgbClr val="993C1D"/>
          </a:solidFill>
          <a:ln w="7802" cap="flat">
            <a:solidFill>
              <a:srgbClr val="712B13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95651D-DF92-7B07-191A-547121AD2705}"/>
              </a:ext>
            </a:extLst>
          </p:cNvPr>
          <p:cNvSpPr txBox="1"/>
          <p:nvPr/>
        </p:nvSpPr>
        <p:spPr>
          <a:xfrm>
            <a:off x="2918423" y="3834154"/>
            <a:ext cx="12939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200" spc="0" baseline="0">
                <a:ln/>
                <a:solidFill>
                  <a:srgbClr val="FAECE7"/>
                </a:solidFill>
                <a:latin typeface="Arial"/>
                <a:cs typeface="Arial"/>
                <a:sym typeface="Arial"/>
                <a:rtl val="0"/>
              </a:rPr>
              <a:t>High fatality rate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D0AC46-667A-5788-7220-9F24E4D157AC}"/>
              </a:ext>
            </a:extLst>
          </p:cNvPr>
          <p:cNvSpPr txBox="1"/>
          <p:nvPr/>
        </p:nvSpPr>
        <p:spPr>
          <a:xfrm>
            <a:off x="2931107" y="4127809"/>
            <a:ext cx="13163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F5C4B3"/>
                </a:solidFill>
                <a:latin typeface="Arial"/>
                <a:cs typeface="Arial"/>
                <a:sym typeface="Arial"/>
                <a:rtl val="0"/>
              </a:rPr>
              <a:t>BDBV CFR among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025D17-C6A3-D3F6-AC1C-47A4900FECF4}"/>
              </a:ext>
            </a:extLst>
          </p:cNvPr>
          <p:cNvSpPr txBox="1"/>
          <p:nvPr/>
        </p:nvSpPr>
        <p:spPr>
          <a:xfrm>
            <a:off x="2692388" y="4346366"/>
            <a:ext cx="169148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F5C4B3"/>
                </a:solidFill>
                <a:latin typeface="Arial"/>
                <a:cs typeface="Arial"/>
                <a:sym typeface="Arial"/>
                <a:rtl val="0"/>
              </a:rPr>
              <a:t>highest of all EVD strains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07ADD3C-8EC3-F3BA-7CCC-73666C059543}"/>
              </a:ext>
            </a:extLst>
          </p:cNvPr>
          <p:cNvSpPr/>
          <p:nvPr/>
        </p:nvSpPr>
        <p:spPr>
          <a:xfrm>
            <a:off x="417879" y="4984656"/>
            <a:ext cx="4371134" cy="1124006"/>
          </a:xfrm>
          <a:prstGeom prst="roundRect">
            <a:avLst>
              <a:gd name="adj" fmla="val 11111"/>
            </a:avLst>
          </a:prstGeom>
          <a:solidFill>
            <a:srgbClr val="F7C1C1"/>
          </a:solidFill>
          <a:ln w="7802" cap="flat">
            <a:solidFill>
              <a:srgbClr val="E24B4A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E32546-7061-C37B-3C77-C16C8743EB50}"/>
              </a:ext>
            </a:extLst>
          </p:cNvPr>
          <p:cNvSpPr txBox="1"/>
          <p:nvPr/>
        </p:nvSpPr>
        <p:spPr>
          <a:xfrm>
            <a:off x="1220789" y="5065960"/>
            <a:ext cx="2297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200" spc="0" baseline="0">
                <a:ln/>
                <a:solidFill>
                  <a:srgbClr val="501313"/>
                </a:solidFill>
                <a:latin typeface="Arial"/>
                <a:cs typeface="Arial"/>
                <a:sym typeface="Arial"/>
                <a:rtl val="0"/>
              </a:rPr>
              <a:t>Bundibugyo ebolavirus (BDBV)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4C8449-6C18-7DCD-6D8A-5B29B68238F2}"/>
              </a:ext>
            </a:extLst>
          </p:cNvPr>
          <p:cNvSpPr txBox="1"/>
          <p:nvPr/>
        </p:nvSpPr>
        <p:spPr>
          <a:xfrm>
            <a:off x="808484" y="5329871"/>
            <a:ext cx="287129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791F1F"/>
                </a:solidFill>
                <a:latin typeface="Arial"/>
                <a:cs typeface="Arial"/>
                <a:sym typeface="Arial"/>
                <a:rtl val="0"/>
              </a:rPr>
              <a:t>Filoviridae family - negative-sense RNA virus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468A64-B062-1D7E-F979-39646EC1479B}"/>
              </a:ext>
            </a:extLst>
          </p:cNvPr>
          <p:cNvSpPr txBox="1"/>
          <p:nvPr/>
        </p:nvSpPr>
        <p:spPr>
          <a:xfrm>
            <a:off x="765637" y="5564039"/>
            <a:ext cx="29274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791F1F"/>
                </a:solidFill>
                <a:latin typeface="Arial"/>
                <a:cs typeface="Arial"/>
                <a:sym typeface="Arial"/>
                <a:rtl val="0"/>
              </a:rPr>
              <a:t>Distinct species from Zaire ebolavirus (EBOV)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FF555-B514-B955-8DC5-A6CB6984C4CF}"/>
              </a:ext>
            </a:extLst>
          </p:cNvPr>
          <p:cNvSpPr txBox="1"/>
          <p:nvPr/>
        </p:nvSpPr>
        <p:spPr>
          <a:xfrm>
            <a:off x="602927" y="5798207"/>
            <a:ext cx="31854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791F1F"/>
                </a:solidFill>
                <a:latin typeface="Arial"/>
                <a:cs typeface="Arial"/>
                <a:sym typeface="Arial"/>
                <a:rtl val="0"/>
              </a:rPr>
              <a:t>First identified: Bundibugyo District, Uganda, 2007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9AEF0C-0B72-E0AA-8120-88641A498E51}"/>
              </a:ext>
            </a:extLst>
          </p:cNvPr>
          <p:cNvSpPr txBox="1"/>
          <p:nvPr/>
        </p:nvSpPr>
        <p:spPr>
          <a:xfrm>
            <a:off x="6641083" y="1008528"/>
            <a:ext cx="16594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200" spc="0" baseline="0">
                <a:ln/>
                <a:solidFill>
                  <a:srgbClr val="0C447C"/>
                </a:solidFill>
                <a:latin typeface="Arial"/>
                <a:cs typeface="Arial"/>
                <a:sym typeface="Arial"/>
                <a:rtl val="0"/>
              </a:rPr>
              <a:t>Urgent research gaps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BD3B82D-DE08-F0EE-349A-8FC338FB046C}"/>
              </a:ext>
            </a:extLst>
          </p:cNvPr>
          <p:cNvSpPr/>
          <p:nvPr/>
        </p:nvSpPr>
        <p:spPr>
          <a:xfrm>
            <a:off x="5507128" y="1425303"/>
            <a:ext cx="4402357" cy="1311340"/>
          </a:xfrm>
          <a:prstGeom prst="roundRect">
            <a:avLst>
              <a:gd name="adj" fmla="val 9523"/>
            </a:avLst>
          </a:prstGeom>
          <a:solidFill>
            <a:srgbClr val="B5D4F4"/>
          </a:solidFill>
          <a:ln w="7802" cap="flat">
            <a:solidFill>
              <a:srgbClr val="378ADD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4F2730-3893-C0A4-C6F8-04B5A8205EC2}"/>
              </a:ext>
            </a:extLst>
          </p:cNvPr>
          <p:cNvSpPr txBox="1"/>
          <p:nvPr/>
        </p:nvSpPr>
        <p:spPr>
          <a:xfrm>
            <a:off x="5790357" y="1506607"/>
            <a:ext cx="1346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600" b="1" spc="0" baseline="0" dirty="0">
                <a:ln/>
                <a:solidFill>
                  <a:srgbClr val="042C53"/>
                </a:solidFill>
                <a:latin typeface="Arial"/>
                <a:cs typeface="Arial"/>
                <a:sym typeface="Arial"/>
                <a:rtl val="0"/>
              </a:rPr>
              <a:t>Diagnostics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24B082-1E41-AD70-4D41-630083A8D753}"/>
              </a:ext>
            </a:extLst>
          </p:cNvPr>
          <p:cNvSpPr txBox="1"/>
          <p:nvPr/>
        </p:nvSpPr>
        <p:spPr>
          <a:xfrm>
            <a:off x="5790357" y="1786130"/>
            <a:ext cx="18710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185FA5"/>
                </a:solidFill>
                <a:latin typeface="Arial"/>
                <a:cs typeface="Arial"/>
                <a:sym typeface="Arial"/>
                <a:rtl val="0"/>
              </a:rPr>
              <a:t>No approved RDT for BDBV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D4FEC1-3731-735F-5E9D-7B3419743006}"/>
              </a:ext>
            </a:extLst>
          </p:cNvPr>
          <p:cNvSpPr txBox="1"/>
          <p:nvPr/>
        </p:nvSpPr>
        <p:spPr>
          <a:xfrm>
            <a:off x="5790357" y="2020298"/>
            <a:ext cx="21996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185FA5"/>
                </a:solidFill>
                <a:latin typeface="Arial"/>
                <a:cs typeface="Arial"/>
                <a:sym typeface="Arial"/>
                <a:rtl val="0"/>
              </a:rPr>
              <a:t>GeneXpert does not detect BDBV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A274D3-E999-9E53-92BD-0A9BDCD5DE62}"/>
              </a:ext>
            </a:extLst>
          </p:cNvPr>
          <p:cNvSpPr txBox="1"/>
          <p:nvPr/>
        </p:nvSpPr>
        <p:spPr>
          <a:xfrm>
            <a:off x="5790357" y="2254466"/>
            <a:ext cx="281038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185FA5"/>
                </a:solidFill>
                <a:latin typeface="Arial"/>
                <a:cs typeface="Arial"/>
                <a:sym typeface="Arial"/>
                <a:rtl val="0"/>
              </a:rPr>
              <a:t>Requires pan-filovirus RT-PCR (e.g. Altona)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E89F932-C0B6-5D19-B477-266EFAA7D721}"/>
              </a:ext>
            </a:extLst>
          </p:cNvPr>
          <p:cNvSpPr/>
          <p:nvPr/>
        </p:nvSpPr>
        <p:spPr>
          <a:xfrm>
            <a:off x="5507128" y="2955201"/>
            <a:ext cx="4402357" cy="1155228"/>
          </a:xfrm>
          <a:prstGeom prst="roundRect">
            <a:avLst>
              <a:gd name="adj" fmla="val 10810"/>
            </a:avLst>
          </a:prstGeom>
          <a:solidFill>
            <a:srgbClr val="9FE1CB"/>
          </a:solidFill>
          <a:ln w="7802" cap="flat">
            <a:solidFill>
              <a:srgbClr val="1D9E75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969C62-7CD0-3AFB-57C7-9D8084895583}"/>
              </a:ext>
            </a:extLst>
          </p:cNvPr>
          <p:cNvSpPr txBox="1"/>
          <p:nvPr/>
        </p:nvSpPr>
        <p:spPr>
          <a:xfrm>
            <a:off x="5790357" y="3036505"/>
            <a:ext cx="10613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600" b="1" spc="0" baseline="0">
                <a:ln/>
                <a:solidFill>
                  <a:srgbClr val="04342C"/>
                </a:solidFill>
                <a:latin typeface="Arial"/>
                <a:cs typeface="Arial"/>
                <a:sym typeface="Arial"/>
                <a:rtl val="0"/>
              </a:rPr>
              <a:t>Vaccines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B8E571-787F-EAD5-6C88-B771770DAEFD}"/>
              </a:ext>
            </a:extLst>
          </p:cNvPr>
          <p:cNvSpPr txBox="1"/>
          <p:nvPr/>
        </p:nvSpPr>
        <p:spPr>
          <a:xfrm>
            <a:off x="5790357" y="3316027"/>
            <a:ext cx="205216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085041"/>
                </a:solidFill>
                <a:latin typeface="Arial"/>
                <a:cs typeface="Arial"/>
                <a:sym typeface="Arial"/>
                <a:rtl val="0"/>
              </a:rPr>
              <a:t>No approved vaccine for BDBV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B8DDD6-FAB2-0ED0-1352-82B6576BFE96}"/>
              </a:ext>
            </a:extLst>
          </p:cNvPr>
          <p:cNvSpPr txBox="1"/>
          <p:nvPr/>
        </p:nvSpPr>
        <p:spPr>
          <a:xfrm>
            <a:off x="5790357" y="3550195"/>
            <a:ext cx="263245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085041"/>
                </a:solidFill>
                <a:latin typeface="Arial"/>
                <a:cs typeface="Arial"/>
                <a:sym typeface="Arial"/>
                <a:rtl val="0"/>
              </a:rPr>
              <a:t>rVSV-ZEBOV (Ervebo) targets Zaire only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96A764-1E6B-1CC6-D776-175AA5710210}"/>
              </a:ext>
            </a:extLst>
          </p:cNvPr>
          <p:cNvSpPr txBox="1"/>
          <p:nvPr/>
        </p:nvSpPr>
        <p:spPr>
          <a:xfrm>
            <a:off x="5790357" y="3784363"/>
            <a:ext cx="268535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085041"/>
                </a:solidFill>
                <a:latin typeface="Arial"/>
                <a:cs typeface="Arial"/>
                <a:sym typeface="Arial"/>
                <a:rtl val="0"/>
              </a:rPr>
              <a:t>Pan-ebolavirus platforms urgently needed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22977C3-5C82-66D2-AC89-F1EB0FD7C0CB}"/>
              </a:ext>
            </a:extLst>
          </p:cNvPr>
          <p:cNvSpPr/>
          <p:nvPr/>
        </p:nvSpPr>
        <p:spPr>
          <a:xfrm>
            <a:off x="5507128" y="4328986"/>
            <a:ext cx="4402357" cy="999116"/>
          </a:xfrm>
          <a:prstGeom prst="roundRect">
            <a:avLst>
              <a:gd name="adj" fmla="val 12500"/>
            </a:avLst>
          </a:prstGeom>
          <a:solidFill>
            <a:srgbClr val="CECBF6"/>
          </a:solidFill>
          <a:ln w="7802" cap="flat">
            <a:solidFill>
              <a:srgbClr val="7F77DD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9A0278-85BC-FBCD-5618-53AD7478062F}"/>
              </a:ext>
            </a:extLst>
          </p:cNvPr>
          <p:cNvSpPr txBox="1"/>
          <p:nvPr/>
        </p:nvSpPr>
        <p:spPr>
          <a:xfrm>
            <a:off x="5790357" y="4410290"/>
            <a:ext cx="1976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600" b="1" spc="0" baseline="0">
                <a:ln/>
                <a:solidFill>
                  <a:srgbClr val="26215C"/>
                </a:solidFill>
                <a:latin typeface="Arial"/>
                <a:cs typeface="Arial"/>
                <a:sym typeface="Arial"/>
                <a:rtl val="0"/>
              </a:rPr>
              <a:t>Antiviral therapies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76B3F5-D701-0596-1FF8-47A25D0ED70B}"/>
              </a:ext>
            </a:extLst>
          </p:cNvPr>
          <p:cNvSpPr txBox="1"/>
          <p:nvPr/>
        </p:nvSpPr>
        <p:spPr>
          <a:xfrm>
            <a:off x="5790357" y="4674201"/>
            <a:ext cx="28953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3C3489"/>
                </a:solidFill>
                <a:latin typeface="Arial"/>
                <a:cs typeface="Arial"/>
                <a:sym typeface="Arial"/>
                <a:rtl val="0"/>
              </a:rPr>
              <a:t>mAbs (atoltivimab etc.) target EBOV epitopes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1BA9A5-428C-DBF0-3638-E9828CB665A8}"/>
              </a:ext>
            </a:extLst>
          </p:cNvPr>
          <p:cNvSpPr txBox="1"/>
          <p:nvPr/>
        </p:nvSpPr>
        <p:spPr>
          <a:xfrm>
            <a:off x="5790357" y="4908369"/>
            <a:ext cx="269496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3C3489"/>
                </a:solidFill>
                <a:latin typeface="Arial"/>
                <a:cs typeface="Arial"/>
                <a:sym typeface="Arial"/>
                <a:rtl val="0"/>
              </a:rPr>
              <a:t>No targeted treatment approved for BDBV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AE112BC-5DAA-4AAE-4181-B57F27E3CEA8}"/>
              </a:ext>
            </a:extLst>
          </p:cNvPr>
          <p:cNvSpPr/>
          <p:nvPr/>
        </p:nvSpPr>
        <p:spPr>
          <a:xfrm>
            <a:off x="5507128" y="5546659"/>
            <a:ext cx="4402357" cy="624447"/>
          </a:xfrm>
          <a:prstGeom prst="roundRect">
            <a:avLst>
              <a:gd name="adj" fmla="val 20000"/>
            </a:avLst>
          </a:prstGeom>
          <a:solidFill>
            <a:srgbClr val="042C53"/>
          </a:solidFill>
          <a:ln w="7802" cap="flat">
            <a:solidFill>
              <a:srgbClr val="185FA5"/>
            </a:solidFill>
            <a:prstDash val="solid"/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11A151-7757-B5E9-3F8A-9671716E9CEF}"/>
              </a:ext>
            </a:extLst>
          </p:cNvPr>
          <p:cNvSpPr txBox="1"/>
          <p:nvPr/>
        </p:nvSpPr>
        <p:spPr>
          <a:xfrm>
            <a:off x="6251928" y="5595262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50" spc="0" baseline="0">
                <a:ln/>
                <a:solidFill>
                  <a:srgbClr val="B5D4F4"/>
                </a:solidFill>
                <a:latin typeface="Arial"/>
                <a:cs typeface="Arial"/>
                <a:sym typeface="Arial"/>
                <a:rtl val="0"/>
              </a:rPr>
              <a:t>Sustained R&amp;D investment required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C818F1-E6D5-ADD0-B760-28E803E7E9C2}"/>
              </a:ext>
            </a:extLst>
          </p:cNvPr>
          <p:cNvSpPr txBox="1"/>
          <p:nvPr/>
        </p:nvSpPr>
        <p:spPr>
          <a:xfrm>
            <a:off x="5998730" y="5843562"/>
            <a:ext cx="28312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00" spc="0" baseline="0">
                <a:ln/>
                <a:solidFill>
                  <a:srgbClr val="85B7EB"/>
                </a:solidFill>
                <a:latin typeface="Arial"/>
                <a:cs typeface="Arial"/>
                <a:sym typeface="Arial"/>
                <a:rtl val="0"/>
              </a:rPr>
              <a:t>Diagnostics - vaccines - therapeutics for BDBV</a:t>
            </a:r>
          </a:p>
        </p:txBody>
      </p: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E2783209-FD76-916C-EBC7-BAE7DAC24415}"/>
              </a:ext>
            </a:extLst>
          </p:cNvPr>
          <p:cNvSpPr/>
          <p:nvPr/>
        </p:nvSpPr>
        <p:spPr>
          <a:xfrm>
            <a:off x="5007570" y="3111313"/>
            <a:ext cx="312223" cy="15611"/>
          </a:xfrm>
          <a:custGeom>
            <a:avLst/>
            <a:gdLst>
              <a:gd name="csX0" fmla="*/ 0 w 312223"/>
              <a:gd name="csY0" fmla="*/ 0 h 15611"/>
              <a:gd name="csX1" fmla="*/ 312224 w 312223"/>
              <a:gd name="csY1" fmla="*/ 0 h 1561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12223" h="15611">
                <a:moveTo>
                  <a:pt x="0" y="0"/>
                </a:moveTo>
                <a:lnTo>
                  <a:pt x="312224" y="0"/>
                </a:lnTo>
              </a:path>
            </a:pathLst>
          </a:custGeom>
          <a:ln w="15604" cap="flat">
            <a:solidFill>
              <a:srgbClr val="888780"/>
            </a:solidFill>
            <a:custDash>
              <a:ds d="225000" sp="225000"/>
            </a:custDash>
            <a:miter/>
          </a:ln>
        </p:spPr>
        <p:txBody>
          <a:bodyPr/>
          <a:lstStyle/>
          <a:p>
            <a:endParaRPr lang="en-ZW" sz="20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3677E08-5C6D-9416-C5A0-3C2DB2E70D9B}"/>
              </a:ext>
            </a:extLst>
          </p:cNvPr>
          <p:cNvSpPr txBox="1"/>
          <p:nvPr/>
        </p:nvSpPr>
        <p:spPr>
          <a:xfrm>
            <a:off x="2815822" y="6436788"/>
            <a:ext cx="3866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ZW" sz="1000" spc="0" baseline="0">
                <a:ln/>
                <a:solidFill>
                  <a:srgbClr val="888780"/>
                </a:solidFill>
                <a:latin typeface="Arial"/>
                <a:cs typeface="Arial"/>
                <a:sym typeface="Arial"/>
                <a:rtl val="0"/>
              </a:rPr>
              <a:t>Nature Communications 2026 - doi:10.1038/s41467-026-73746-1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622339-7960-0363-4A4C-14013932769A}"/>
              </a:ext>
            </a:extLst>
          </p:cNvPr>
          <p:cNvSpPr txBox="1"/>
          <p:nvPr/>
        </p:nvSpPr>
        <p:spPr>
          <a:xfrm>
            <a:off x="10303436" y="1601694"/>
            <a:ext cx="1745130" cy="923330"/>
          </a:xfrm>
          <a:prstGeom prst="rect">
            <a:avLst/>
          </a:prstGeom>
          <a:ln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Edited version of ungrouped SVG</a:t>
            </a:r>
            <a:endParaRPr lang="en-ZW" dirty="0"/>
          </a:p>
        </p:txBody>
      </p:sp>
    </p:spTree>
    <p:extLst>
      <p:ext uri="{BB962C8B-B14F-4D97-AF65-F5344CB8AC3E}">
        <p14:creationId xmlns:p14="http://schemas.microsoft.com/office/powerpoint/2010/main" val="4004886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Widescreen</PresentationFormat>
  <Paragraphs>35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MLANDA, Tamayi</dc:creator>
  <cp:lastModifiedBy>MLANDA, Tamayi</cp:lastModifiedBy>
  <cp:revision>2</cp:revision>
  <dcterms:created xsi:type="dcterms:W3CDTF">2026-06-14T19:48:00Z</dcterms:created>
  <dcterms:modified xsi:type="dcterms:W3CDTF">2026-06-14T19:55:24Z</dcterms:modified>
</cp:coreProperties>
</file>